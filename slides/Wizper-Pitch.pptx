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155448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9544" y="170078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5848" y="170078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2152" y="170078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3" name="Shape 31"/>
          <p:cNvSpPr/>
          <p:nvPr/>
        </p:nvSpPr>
        <p:spPr>
          <a:xfrm>
            <a:off x="5803240" y="18470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9544" y="18470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18470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2152" y="18470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8456" y="18470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9544" y="1993392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5848" y="1993392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0" name="Shape 38"/>
          <p:cNvSpPr/>
          <p:nvPr/>
        </p:nvSpPr>
        <p:spPr>
          <a:xfrm>
            <a:off x="6242152" y="1993392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1" name="Shape 39"/>
          <p:cNvSpPr/>
          <p:nvPr/>
        </p:nvSpPr>
        <p:spPr>
          <a:xfrm>
            <a:off x="5803240" y="2139696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9544" y="2139696"/>
            <a:ext cx="146304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2139696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4" name="Shape 42"/>
          <p:cNvSpPr/>
          <p:nvPr/>
        </p:nvSpPr>
        <p:spPr>
          <a:xfrm>
            <a:off x="6242152" y="2139696"/>
            <a:ext cx="146304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388456" y="2139696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9544" y="228600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7" name="Shape 45"/>
          <p:cNvSpPr/>
          <p:nvPr/>
        </p:nvSpPr>
        <p:spPr>
          <a:xfrm>
            <a:off x="6095848" y="228600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8" name="Shape 46"/>
          <p:cNvSpPr/>
          <p:nvPr/>
        </p:nvSpPr>
        <p:spPr>
          <a:xfrm>
            <a:off x="6242152" y="228600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9" name="Shape 47"/>
          <p:cNvSpPr/>
          <p:nvPr/>
        </p:nvSpPr>
        <p:spPr>
          <a:xfrm>
            <a:off x="5803240" y="24323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0" name="Shape 48"/>
          <p:cNvSpPr/>
          <p:nvPr/>
        </p:nvSpPr>
        <p:spPr>
          <a:xfrm>
            <a:off x="5949544" y="24323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5848" y="24323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2" name="Shape 50"/>
          <p:cNvSpPr/>
          <p:nvPr/>
        </p:nvSpPr>
        <p:spPr>
          <a:xfrm>
            <a:off x="6242152" y="24323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3" name="Shape 51"/>
          <p:cNvSpPr/>
          <p:nvPr/>
        </p:nvSpPr>
        <p:spPr>
          <a:xfrm>
            <a:off x="6388456" y="24323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4" name="Shape 52"/>
          <p:cNvSpPr/>
          <p:nvPr/>
        </p:nvSpPr>
        <p:spPr>
          <a:xfrm>
            <a:off x="5803240" y="25786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5" name="Shape 53"/>
          <p:cNvSpPr/>
          <p:nvPr/>
        </p:nvSpPr>
        <p:spPr>
          <a:xfrm>
            <a:off x="5949544" y="25786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6" name="Shape 54"/>
          <p:cNvSpPr/>
          <p:nvPr/>
        </p:nvSpPr>
        <p:spPr>
          <a:xfrm>
            <a:off x="6095848" y="25786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7" name="Shape 55"/>
          <p:cNvSpPr/>
          <p:nvPr/>
        </p:nvSpPr>
        <p:spPr>
          <a:xfrm>
            <a:off x="6242152" y="25786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8" name="Shape 56"/>
          <p:cNvSpPr/>
          <p:nvPr/>
        </p:nvSpPr>
        <p:spPr>
          <a:xfrm>
            <a:off x="6388456" y="25786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9" name="Shape 57"/>
          <p:cNvSpPr/>
          <p:nvPr/>
        </p:nvSpPr>
        <p:spPr>
          <a:xfrm>
            <a:off x="5803240" y="27249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0" name="Shape 58"/>
          <p:cNvSpPr/>
          <p:nvPr/>
        </p:nvSpPr>
        <p:spPr>
          <a:xfrm>
            <a:off x="5949544" y="27249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1" name="Shape 59"/>
          <p:cNvSpPr/>
          <p:nvPr/>
        </p:nvSpPr>
        <p:spPr>
          <a:xfrm>
            <a:off x="6242152" y="27249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2" name="Shape 60"/>
          <p:cNvSpPr/>
          <p:nvPr/>
        </p:nvSpPr>
        <p:spPr>
          <a:xfrm>
            <a:off x="6388456" y="27249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3" name="Shape 61"/>
          <p:cNvSpPr/>
          <p:nvPr/>
        </p:nvSpPr>
        <p:spPr>
          <a:xfrm>
            <a:off x="6534760" y="1700784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4" name="Shape 62"/>
          <p:cNvSpPr/>
          <p:nvPr/>
        </p:nvSpPr>
        <p:spPr>
          <a:xfrm>
            <a:off x="6534760" y="1847088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5" name="Shape 63"/>
          <p:cNvSpPr/>
          <p:nvPr/>
        </p:nvSpPr>
        <p:spPr>
          <a:xfrm>
            <a:off x="6534760" y="1993392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6" name="Shape 64"/>
          <p:cNvSpPr/>
          <p:nvPr/>
        </p:nvSpPr>
        <p:spPr>
          <a:xfrm>
            <a:off x="6534760" y="2139696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7" name="Shape 65"/>
          <p:cNvSpPr/>
          <p:nvPr/>
        </p:nvSpPr>
        <p:spPr>
          <a:xfrm>
            <a:off x="6534760" y="2286000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8" name="Shape 66"/>
          <p:cNvSpPr/>
          <p:nvPr/>
        </p:nvSpPr>
        <p:spPr>
          <a:xfrm>
            <a:off x="6534760" y="2432304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9" name="Shape 67"/>
          <p:cNvSpPr/>
          <p:nvPr/>
        </p:nvSpPr>
        <p:spPr>
          <a:xfrm>
            <a:off x="6534760" y="2578608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0" name="Shape 68"/>
          <p:cNvSpPr/>
          <p:nvPr/>
        </p:nvSpPr>
        <p:spPr>
          <a:xfrm>
            <a:off x="6534760" y="2724912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1" name="Shape 69"/>
          <p:cNvSpPr/>
          <p:nvPr/>
        </p:nvSpPr>
        <p:spPr>
          <a:xfrm>
            <a:off x="6534760" y="1554480"/>
            <a:ext cx="146304" cy="146304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72" name="Text 70"/>
          <p:cNvSpPr/>
          <p:nvPr/>
        </p:nvSpPr>
        <p:spPr>
          <a:xfrm>
            <a:off x="0" y="31089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Wizper</a:t>
            </a:r>
            <a:endParaRPr lang="en-US" sz="8400" dirty="0"/>
          </a:p>
        </p:txBody>
      </p:sp>
      <p:sp>
        <p:nvSpPr>
          <p:cNvPr id="73" name="Text 71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Emotions Become Spirits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spirits, verifiable without identity.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8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  ·   EXPRESSIVE   ·   YOURS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spc="-4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0" dirty="0"/>
          </a:p>
        </p:txBody>
      </p:sp>
      <p:sp>
        <p:nvSpPr>
          <p:cNvPr id="30" name="Text 28"/>
          <p:cNvSpPr/>
          <p:nvPr/>
        </p:nvSpPr>
        <p:spPr>
          <a:xfrm>
            <a:off x="384048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5400" dirty="0"/>
          </a:p>
        </p:txBody>
      </p:sp>
      <p:sp>
        <p:nvSpPr>
          <p:cNvPr id="31" name="Text 29"/>
          <p:cNvSpPr/>
          <p:nvPr/>
        </p:nvSpPr>
        <p:spPr>
          <a:xfrm>
            <a:off x="38404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worlds, one missing need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840480" y="3520440"/>
            <a:ext cx="18288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3749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speak freely — without being watched, sold, or profiled.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 platforms can't offer that. Web3 promised it, but quietly failed.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OUTSIDE CRYPTO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internet forgot how to whisper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 optimized for reach. Nothing optimized for release.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1520" y="2468880"/>
            <a:ext cx="530352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246888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Surveillance by default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31546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on Instagram, X, WeChat is tied to a real-name account. Data sold, indexed, retained forever.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468880"/>
            <a:ext cx="530352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46888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Algorithmic amplification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92240" y="31546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emotion gets rewarded only when it's marketable. Quiet grief and ordinary rage are invisible.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520" y="4434840"/>
            <a:ext cx="530352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443484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Self-censorship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05840" y="51206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Employers, family, followers all watch. 62% of Gen-Z report holding back posts for fear of context collapse.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0" y="4434840"/>
            <a:ext cx="530352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443484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archival memory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92240" y="51206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Burner posts and disappearing stories leave nothing behind. People want to release, then remember.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 / OUTSIDE CRYPTO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INSIDE CRYPTO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"Anonymous" — but your wallet is public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Farcaster, Lens, Mirror, existing "anonymous" NFT projects — all share the same flaw.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1520" y="2377440"/>
            <a:ext cx="5303520" cy="3840480"/>
          </a:xfrm>
          <a:prstGeom prst="rect">
            <a:avLst/>
          </a:prstGeom>
          <a:solidFill>
            <a:srgbClr val="1A2048"/>
          </a:solidFill>
          <a:ln w="9525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2377440"/>
            <a:ext cx="54864" cy="3840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chain sees today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0120" y="31089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ownerOf(tokenId) → your main wallet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events link every post to that wallet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ties back to CEX deposits, KYC, IP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“hash commitments” on top — theater,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anonymity (author still msg.sender)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2377440"/>
            <a:ext cx="5029200" cy="3840480"/>
          </a:xfrm>
          <a:prstGeom prst="rect">
            <a:avLst/>
          </a:prstGeom>
          <a:solidFill>
            <a:srgbClr val="1A2048"/>
          </a:solidFill>
          <a:ln w="9525">
            <a:solidFill>
              <a:srgbClr val="00F5D4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2377440"/>
            <a:ext cx="54864" cy="384048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users thought they were getting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629400" y="31089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account, no real name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Censorship resistance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“pseudonymous” ≠ anonymous. A single doxx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retroactively de-anonymizes everything you ever posted.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 / INSIDE CRYPTO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spc="-4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0" dirty="0"/>
          </a:p>
        </p:txBody>
      </p:sp>
      <p:sp>
        <p:nvSpPr>
          <p:cNvPr id="30" name="Text 28"/>
          <p:cNvSpPr/>
          <p:nvPr/>
        </p:nvSpPr>
        <p:spPr>
          <a:xfrm>
            <a:off x="384048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5400" dirty="0"/>
          </a:p>
        </p:txBody>
      </p:sp>
      <p:sp>
        <p:nvSpPr>
          <p:cNvPr id="31" name="Text 29"/>
          <p:cNvSpPr/>
          <p:nvPr/>
        </p:nvSpPr>
        <p:spPr>
          <a:xfrm>
            <a:off x="38404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three layers of identity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840480" y="3520440"/>
            <a:ext cx="1828800" cy="2743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3749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Membership. Authorship. Ownership.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proven separately, each unlinkable to the others.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BLOCKCHAIN ECOSYSTEM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stack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cheap gas, mature tooling, and a ZK primitive that already works.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1520" y="2377440"/>
            <a:ext cx="3657600" cy="3931920"/>
          </a:xfrm>
          <a:prstGeom prst="rect">
            <a:avLst/>
          </a:prstGeom>
          <a:solidFill>
            <a:srgbClr val="1A2048"/>
          </a:solidFill>
          <a:ln w="9525">
            <a:solidFill>
              <a:srgbClr val="00F5D4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2377440"/>
            <a:ext cx="54864" cy="393192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rollup, ~$0.005 per mint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ID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84532 (Sepolia testnet today)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for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5486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Mainnet migration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26280" y="2377440"/>
            <a:ext cx="3657600" cy="3931920"/>
          </a:xfrm>
          <a:prstGeom prst="rect">
            <a:avLst/>
          </a:prstGeom>
          <a:solidFill>
            <a:srgbClr val="1A2048"/>
          </a:solidFill>
          <a:ln w="9525">
            <a:solidFill>
              <a:srgbClr val="B24BF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6280" y="2377440"/>
            <a:ext cx="54864" cy="393192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&amp; Contracts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8006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Solidity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0.8.23+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0060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OpenZeppelin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(ERC-721 Enumerable)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006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5486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(PSE deployment)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321040" y="2377440"/>
            <a:ext cx="3657600" cy="3931920"/>
          </a:xfrm>
          <a:prstGeom prst="rect">
            <a:avLst/>
          </a:prstGeom>
          <a:solidFill>
            <a:srgbClr val="1A2048"/>
          </a:solidFill>
          <a:ln w="9525">
            <a:solidFill>
              <a:srgbClr val="FFD700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1040" y="2377440"/>
            <a:ext cx="54864" cy="39319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2" name="Text 50"/>
          <p:cNvSpPr/>
          <p:nvPr/>
        </p:nvSpPr>
        <p:spPr>
          <a:xfrm>
            <a:off x="85953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Layer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953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9536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59536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 / RPC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59536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wagmi 3, viem 2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59536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95360" y="5486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(Pinata) + Postgres cache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 / STACK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SMART CONTRACTS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contract, five verbs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WizperAnonymous.sol · extends ERC-721 + ERC-721Enumerable · references Semaphore externally.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2377440"/>
            <a:ext cx="10728655" cy="457200"/>
          </a:xfrm>
          <a:prstGeom prst="rect">
            <a:avLst/>
          </a:prstGeom>
          <a:solidFill>
            <a:srgbClr val="141A3F"/>
          </a:solidFill>
          <a:ln w="6350">
            <a:solidFill>
              <a:srgbClr val="00F5D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2450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2834640"/>
            <a:ext cx="10728655" cy="685800"/>
          </a:xfrm>
          <a:prstGeom prst="rect">
            <a:avLst/>
          </a:prstGeom>
          <a:solidFill>
            <a:srgbClr val="1A2048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2999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initialize()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9992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once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2999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Semaphore group with this contract as admin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36850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joinGroup(commitment)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685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wallet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98080" y="3685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identity commitment into the Merkle tree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1520" y="4206240"/>
            <a:ext cx="10728655" cy="685800"/>
          </a:xfrm>
          <a:prstGeom prst="rect">
            <a:avLst/>
          </a:prstGeom>
          <a:solidFill>
            <a:srgbClr val="1A2048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4370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mintSpirit(proof, stealthOwner, …)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4370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98080" y="4370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ZK proof → mints ERC-721 to stealth address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5056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requestLink(from, to, sig)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03520" y="50566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98080" y="5056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sig must recover to ownerOf(from); marks Pending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1520" y="5577840"/>
            <a:ext cx="10728655" cy="685800"/>
          </a:xfrm>
          <a:prstGeom prst="rect">
            <a:avLst/>
          </a:prstGeom>
          <a:solidFill>
            <a:srgbClr val="1A2048">
              <a:alpha val="5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57424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confirmLink(from, to, sig)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03520" y="57424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8080" y="57424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sig must recover to ownerOf(to); marks Confirmed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 / CONTRACTS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layers, unlinkable to each other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731520" y="2103120"/>
            <a:ext cx="1097280" cy="1325880"/>
          </a:xfrm>
          <a:prstGeom prst="rect">
            <a:avLst/>
          </a:prstGeom>
          <a:solidFill>
            <a:srgbClr val="141A3F"/>
          </a:solidFill>
          <a:ln w="9525">
            <a:solidFill>
              <a:srgbClr val="00F5D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400" dirty="0"/>
          </a:p>
        </p:txBody>
      </p:sp>
      <p:sp>
        <p:nvSpPr>
          <p:cNvPr id="33" name="Shape 31"/>
          <p:cNvSpPr/>
          <p:nvPr/>
        </p:nvSpPr>
        <p:spPr>
          <a:xfrm>
            <a:off x="1920240" y="2103120"/>
            <a:ext cx="9539935" cy="1325880"/>
          </a:xfrm>
          <a:prstGeom prst="rect">
            <a:avLst/>
          </a:prstGeom>
          <a:solidFill>
            <a:srgbClr val="1A2048"/>
          </a:solidFill>
          <a:ln w="9525">
            <a:solidFill>
              <a:srgbClr val="00F5D4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0240" y="2103120"/>
            <a:ext cx="54864" cy="132588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5" name="Text 33"/>
          <p:cNvSpPr/>
          <p:nvPr/>
        </p:nvSpPr>
        <p:spPr>
          <a:xfrm>
            <a:off x="2148840" y="2286000"/>
            <a:ext cx="9174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13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group join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148840" y="2743200"/>
            <a:ext cx="9174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wallet signs once. On-chain record: "some wallet joined Wizper." No record of which wallet owns which post.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1520" y="3566160"/>
            <a:ext cx="1097280" cy="1325880"/>
          </a:xfrm>
          <a:prstGeom prst="rect">
            <a:avLst/>
          </a:prstGeom>
          <a:solidFill>
            <a:srgbClr val="141A3F"/>
          </a:solidFill>
          <a:ln w="9525">
            <a:solidFill>
              <a:srgbClr val="B24BF3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794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400" dirty="0"/>
          </a:p>
        </p:txBody>
      </p:sp>
      <p:sp>
        <p:nvSpPr>
          <p:cNvPr id="39" name="Shape 37"/>
          <p:cNvSpPr/>
          <p:nvPr/>
        </p:nvSpPr>
        <p:spPr>
          <a:xfrm>
            <a:off x="1920240" y="3566160"/>
            <a:ext cx="9539935" cy="1325880"/>
          </a:xfrm>
          <a:prstGeom prst="rect">
            <a:avLst/>
          </a:prstGeom>
          <a:solidFill>
            <a:srgbClr val="1A2048"/>
          </a:solidFill>
          <a:ln w="9525">
            <a:solidFill>
              <a:srgbClr val="B24BF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0240" y="3566160"/>
            <a:ext cx="54864" cy="132588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1" name="Text 39"/>
          <p:cNvSpPr/>
          <p:nvPr/>
        </p:nvSpPr>
        <p:spPr>
          <a:xfrm>
            <a:off x="2148840" y="3749040"/>
            <a:ext cx="9174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Authorship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13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 per mint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148840" y="4206240"/>
            <a:ext cx="9174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mint submits a fresh Groth16 proof + random nullifier. Contract sees: "a group member posted this signal" — not which one.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31520" y="5029200"/>
            <a:ext cx="1097280" cy="1325880"/>
          </a:xfrm>
          <a:prstGeom prst="rect">
            <a:avLst/>
          </a:prstGeom>
          <a:solidFill>
            <a:srgbClr val="141A3F"/>
          </a:solidFill>
          <a:ln w="9525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257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400" dirty="0"/>
          </a:p>
        </p:txBody>
      </p:sp>
      <p:sp>
        <p:nvSpPr>
          <p:cNvPr id="45" name="Shape 43"/>
          <p:cNvSpPr/>
          <p:nvPr/>
        </p:nvSpPr>
        <p:spPr>
          <a:xfrm>
            <a:off x="1920240" y="5029200"/>
            <a:ext cx="9539935" cy="1325880"/>
          </a:xfrm>
          <a:prstGeom prst="rect">
            <a:avLst/>
          </a:prstGeom>
          <a:solidFill>
            <a:srgbClr val="1A2048"/>
          </a:solidFill>
          <a:ln w="9525">
            <a:solidFill>
              <a:srgbClr val="FFD700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0240" y="5029200"/>
            <a:ext cx="54864" cy="13258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7" name="Text 45"/>
          <p:cNvSpPr/>
          <p:nvPr/>
        </p:nvSpPr>
        <p:spPr>
          <a:xfrm>
            <a:off x="2148840" y="5212080"/>
            <a:ext cx="9174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13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address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148840" y="5669280"/>
            <a:ext cx="9174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minted to keccak256(identity_secret). Only the user can derive the key. No on-chain trace back to main wallet.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 / ANONYMITY LAYERS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ECONOMIC THEORY OF VALUE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the good being traded?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24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NFT. The act of being released from silence.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C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sources of value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2834640"/>
            <a:ext cx="91440" cy="86868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Anonymity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scarce, cryptographically guaranteed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" y="3931920"/>
            <a:ext cx="91440" cy="86868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012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emotion, preserved without judgment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520" y="5029200"/>
            <a:ext cx="91440" cy="868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6012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spirits, discover shared feelings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92240" y="2377440"/>
            <a:ext cx="4937760" cy="4023360"/>
          </a:xfrm>
          <a:prstGeom prst="rect">
            <a:avLst/>
          </a:prstGeom>
          <a:solidFill>
            <a:srgbClr val="1A2048"/>
          </a:solidFill>
          <a:ln w="9525">
            <a:solidFill>
              <a:srgbClr val="B24BF3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2377440"/>
            <a:ext cx="54864" cy="402336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principle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208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Anonymity is the primary asset.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720840" y="34290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mint Wizper spirits because NFTs are valuable. They mint because the act costs nothing — financially, socially, psychologically.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NFT is a witness, not a commodity. It says: "you were heard, even though nobody knows who you are."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job is to preserve that asymmetry — add friction to surveillance, remove friction to release.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 / ECONOMIC THEORY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VALUE 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value moves through the system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769468" y="2377440"/>
            <a:ext cx="2286000" cy="1645920"/>
          </a:xfrm>
          <a:prstGeom prst="rect">
            <a:avLst/>
          </a:prstGeom>
          <a:solidFill>
            <a:srgbClr val="1A2048"/>
          </a:solidFill>
          <a:ln w="15240">
            <a:solidFill>
              <a:srgbClr val="00F5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468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9468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text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proof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01188" y="3182112"/>
            <a:ext cx="274320" cy="36576"/>
          </a:xfrm>
          <a:prstGeom prst="rect">
            <a:avLst/>
          </a:prstGeom>
          <a:solidFill>
            <a:srgbClr val="8A9CC9"/>
          </a:solidFill>
          <a:ln/>
        </p:spPr>
      </p:sp>
      <p:sp>
        <p:nvSpPr>
          <p:cNvPr id="35" name="Shape 33"/>
          <p:cNvSpPr/>
          <p:nvPr/>
        </p:nvSpPr>
        <p:spPr>
          <a:xfrm rot="5400000">
            <a:off x="3329788" y="3099816"/>
            <a:ext cx="182880" cy="201168"/>
          </a:xfrm>
          <a:prstGeom prst="rtTriangle">
            <a:avLst/>
          </a:prstGeom>
          <a:solidFill>
            <a:srgbClr val="8A9CC9"/>
          </a:solidFill>
          <a:ln/>
        </p:spPr>
      </p:sp>
      <p:sp>
        <p:nvSpPr>
          <p:cNvPr id="36" name="Shape 34"/>
          <p:cNvSpPr/>
          <p:nvPr/>
        </p:nvSpPr>
        <p:spPr>
          <a:xfrm>
            <a:off x="3558388" y="2377440"/>
            <a:ext cx="2286000" cy="1645920"/>
          </a:xfrm>
          <a:prstGeom prst="rect">
            <a:avLst/>
          </a:prstGeom>
          <a:solidFill>
            <a:srgbClr val="1A2048"/>
          </a:solidFill>
          <a:ln w="15240">
            <a:solidFill>
              <a:srgbClr val="B24B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58388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Relayer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558388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gas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proof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90108" y="3182112"/>
            <a:ext cx="274320" cy="36576"/>
          </a:xfrm>
          <a:prstGeom prst="rect">
            <a:avLst/>
          </a:prstGeom>
          <a:solidFill>
            <a:srgbClr val="8A9CC9"/>
          </a:solidFill>
          <a:ln/>
        </p:spPr>
      </p:sp>
      <p:sp>
        <p:nvSpPr>
          <p:cNvPr id="40" name="Shape 38"/>
          <p:cNvSpPr/>
          <p:nvPr/>
        </p:nvSpPr>
        <p:spPr>
          <a:xfrm rot="5400000">
            <a:off x="6118708" y="3099816"/>
            <a:ext cx="182880" cy="201168"/>
          </a:xfrm>
          <a:prstGeom prst="rtTriangle">
            <a:avLst/>
          </a:prstGeom>
          <a:solidFill>
            <a:srgbClr val="8A9CC9"/>
          </a:solidFill>
          <a:ln/>
        </p:spPr>
      </p:sp>
      <p:sp>
        <p:nvSpPr>
          <p:cNvPr id="41" name="Shape 39"/>
          <p:cNvSpPr/>
          <p:nvPr/>
        </p:nvSpPr>
        <p:spPr>
          <a:xfrm>
            <a:off x="6347308" y="2377440"/>
            <a:ext cx="2286000" cy="1645920"/>
          </a:xfrm>
          <a:prstGeom prst="rect">
            <a:avLst/>
          </a:prstGeom>
          <a:solidFill>
            <a:srgbClr val="1A2048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7308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347308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mints to stealth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79028" y="3182112"/>
            <a:ext cx="274320" cy="36576"/>
          </a:xfrm>
          <a:prstGeom prst="rect">
            <a:avLst/>
          </a:prstGeom>
          <a:solidFill>
            <a:srgbClr val="8A9CC9"/>
          </a:solidFill>
          <a:ln/>
        </p:spPr>
      </p:sp>
      <p:sp>
        <p:nvSpPr>
          <p:cNvPr id="45" name="Shape 43"/>
          <p:cNvSpPr/>
          <p:nvPr/>
        </p:nvSpPr>
        <p:spPr>
          <a:xfrm rot="5400000">
            <a:off x="8907628" y="3099816"/>
            <a:ext cx="182880" cy="201168"/>
          </a:xfrm>
          <a:prstGeom prst="rtTriangle">
            <a:avLst/>
          </a:prstGeom>
          <a:solidFill>
            <a:srgbClr val="8A9CC9"/>
          </a:solidFill>
          <a:ln/>
        </p:spPr>
      </p:sp>
      <p:sp>
        <p:nvSpPr>
          <p:cNvPr id="46" name="Shape 44"/>
          <p:cNvSpPr/>
          <p:nvPr/>
        </p:nvSpPr>
        <p:spPr>
          <a:xfrm>
            <a:off x="9136228" y="2377440"/>
            <a:ext cx="2286000" cy="1645920"/>
          </a:xfrm>
          <a:prstGeom prst="rect">
            <a:avLst/>
          </a:prstGeom>
          <a:solidFill>
            <a:srgbClr val="1A2048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36228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136228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links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not alone"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9468" y="44805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C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  expression archive, link graph, sentiment signal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1520" y="5212080"/>
            <a:ext cx="10728655" cy="1188720"/>
          </a:xfrm>
          <a:prstGeom prst="rect">
            <a:avLst/>
          </a:prstGeom>
          <a:solidFill>
            <a:srgbClr val="1A2048"/>
          </a:solidFill>
          <a:ln w="9525">
            <a:solidFill>
              <a:srgbClr val="FFD700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" y="5212080"/>
            <a:ext cx="54864" cy="1188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2" name="Text 50"/>
          <p:cNvSpPr/>
          <p:nvPr/>
        </p:nvSpPr>
        <p:spPr>
          <a:xfrm>
            <a:off x="1005840" y="539496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stays with the user: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NFT is theirs, the secret is theirs, the link they chose is theirs. </a:t>
            </a:r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holds nothing a subpoena could expose.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 / VALUE FLOW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USERS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shows up to become a spirit?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overlapping audiences, one shared need: speak without being tracked.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1520" y="2377440"/>
            <a:ext cx="3657600" cy="3931920"/>
          </a:xfrm>
          <a:prstGeom prst="rect">
            <a:avLst/>
          </a:prstGeom>
          <a:solidFill>
            <a:srgbClr val="1A2048"/>
          </a:solidFill>
          <a:ln w="9525">
            <a:solidFill>
              <a:srgbClr val="B24BF3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2377440"/>
            <a:ext cx="54864" cy="393192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4" name="Shape 32"/>
          <p:cNvSpPr/>
          <p:nvPr/>
        </p:nvSpPr>
        <p:spPr>
          <a:xfrm>
            <a:off x="2560320" y="2697480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87168" y="277063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6" name="Shape 34"/>
          <p:cNvSpPr/>
          <p:nvPr/>
        </p:nvSpPr>
        <p:spPr>
          <a:xfrm>
            <a:off x="2560320" y="277063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7" name="Shape 35"/>
          <p:cNvSpPr/>
          <p:nvPr/>
        </p:nvSpPr>
        <p:spPr>
          <a:xfrm>
            <a:off x="2633472" y="277063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8" name="Shape 36"/>
          <p:cNvSpPr/>
          <p:nvPr/>
        </p:nvSpPr>
        <p:spPr>
          <a:xfrm>
            <a:off x="2414016" y="284378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9" name="Shape 37"/>
          <p:cNvSpPr/>
          <p:nvPr/>
        </p:nvSpPr>
        <p:spPr>
          <a:xfrm>
            <a:off x="2487168" y="284378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0" name="Shape 38"/>
          <p:cNvSpPr/>
          <p:nvPr/>
        </p:nvSpPr>
        <p:spPr>
          <a:xfrm>
            <a:off x="2560320" y="284378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1" name="Shape 39"/>
          <p:cNvSpPr/>
          <p:nvPr/>
        </p:nvSpPr>
        <p:spPr>
          <a:xfrm>
            <a:off x="2633472" y="284378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2" name="Shape 40"/>
          <p:cNvSpPr/>
          <p:nvPr/>
        </p:nvSpPr>
        <p:spPr>
          <a:xfrm>
            <a:off x="2706624" y="284378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3" name="Shape 41"/>
          <p:cNvSpPr/>
          <p:nvPr/>
        </p:nvSpPr>
        <p:spPr>
          <a:xfrm>
            <a:off x="2487168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4" name="Shape 42"/>
          <p:cNvSpPr/>
          <p:nvPr/>
        </p:nvSpPr>
        <p:spPr>
          <a:xfrm>
            <a:off x="2560320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5" name="Shape 43"/>
          <p:cNvSpPr/>
          <p:nvPr/>
        </p:nvSpPr>
        <p:spPr>
          <a:xfrm>
            <a:off x="2633472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6" name="Shape 44"/>
          <p:cNvSpPr/>
          <p:nvPr/>
        </p:nvSpPr>
        <p:spPr>
          <a:xfrm>
            <a:off x="2414016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7" name="Shape 45"/>
          <p:cNvSpPr/>
          <p:nvPr/>
        </p:nvSpPr>
        <p:spPr>
          <a:xfrm>
            <a:off x="2487168" y="2990088"/>
            <a:ext cx="7315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2560320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9" name="Shape 47"/>
          <p:cNvSpPr/>
          <p:nvPr/>
        </p:nvSpPr>
        <p:spPr>
          <a:xfrm>
            <a:off x="2633472" y="2990088"/>
            <a:ext cx="7315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706624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51" name="Shape 49"/>
          <p:cNvSpPr/>
          <p:nvPr/>
        </p:nvSpPr>
        <p:spPr>
          <a:xfrm>
            <a:off x="2487168" y="3063240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2" name="Shape 50"/>
          <p:cNvSpPr/>
          <p:nvPr/>
        </p:nvSpPr>
        <p:spPr>
          <a:xfrm>
            <a:off x="2560320" y="3063240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3" name="Shape 51"/>
          <p:cNvSpPr/>
          <p:nvPr/>
        </p:nvSpPr>
        <p:spPr>
          <a:xfrm>
            <a:off x="2633472" y="3063240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4" name="Shape 52"/>
          <p:cNvSpPr/>
          <p:nvPr/>
        </p:nvSpPr>
        <p:spPr>
          <a:xfrm>
            <a:off x="2414016" y="313639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5" name="Shape 53"/>
          <p:cNvSpPr/>
          <p:nvPr/>
        </p:nvSpPr>
        <p:spPr>
          <a:xfrm>
            <a:off x="2487168" y="313639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6" name="Shape 54"/>
          <p:cNvSpPr/>
          <p:nvPr/>
        </p:nvSpPr>
        <p:spPr>
          <a:xfrm>
            <a:off x="2560320" y="313639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7" name="Shape 55"/>
          <p:cNvSpPr/>
          <p:nvPr/>
        </p:nvSpPr>
        <p:spPr>
          <a:xfrm>
            <a:off x="2633472" y="313639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8" name="Shape 56"/>
          <p:cNvSpPr/>
          <p:nvPr/>
        </p:nvSpPr>
        <p:spPr>
          <a:xfrm>
            <a:off x="2706624" y="3136392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9" name="Shape 57"/>
          <p:cNvSpPr/>
          <p:nvPr/>
        </p:nvSpPr>
        <p:spPr>
          <a:xfrm>
            <a:off x="2414016" y="320954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0" name="Shape 58"/>
          <p:cNvSpPr/>
          <p:nvPr/>
        </p:nvSpPr>
        <p:spPr>
          <a:xfrm>
            <a:off x="2487168" y="320954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1" name="Shape 59"/>
          <p:cNvSpPr/>
          <p:nvPr/>
        </p:nvSpPr>
        <p:spPr>
          <a:xfrm>
            <a:off x="2560320" y="320954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2" name="Shape 60"/>
          <p:cNvSpPr/>
          <p:nvPr/>
        </p:nvSpPr>
        <p:spPr>
          <a:xfrm>
            <a:off x="2633472" y="320954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3" name="Shape 61"/>
          <p:cNvSpPr/>
          <p:nvPr/>
        </p:nvSpPr>
        <p:spPr>
          <a:xfrm>
            <a:off x="2706624" y="3209544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4" name="Shape 62"/>
          <p:cNvSpPr/>
          <p:nvPr/>
        </p:nvSpPr>
        <p:spPr>
          <a:xfrm>
            <a:off x="2414016" y="3282696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5" name="Shape 63"/>
          <p:cNvSpPr/>
          <p:nvPr/>
        </p:nvSpPr>
        <p:spPr>
          <a:xfrm>
            <a:off x="2487168" y="3282696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6" name="Shape 64"/>
          <p:cNvSpPr/>
          <p:nvPr/>
        </p:nvSpPr>
        <p:spPr>
          <a:xfrm>
            <a:off x="2633472" y="3282696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7" name="Shape 65"/>
          <p:cNvSpPr/>
          <p:nvPr/>
        </p:nvSpPr>
        <p:spPr>
          <a:xfrm>
            <a:off x="2706624" y="3282696"/>
            <a:ext cx="73152" cy="73152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8" name="Shape 66"/>
          <p:cNvSpPr/>
          <p:nvPr/>
        </p:nvSpPr>
        <p:spPr>
          <a:xfrm>
            <a:off x="2779776" y="277063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9" name="Shape 67"/>
          <p:cNvSpPr/>
          <p:nvPr/>
        </p:nvSpPr>
        <p:spPr>
          <a:xfrm>
            <a:off x="2779776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0" name="Shape 68"/>
          <p:cNvSpPr/>
          <p:nvPr/>
        </p:nvSpPr>
        <p:spPr>
          <a:xfrm>
            <a:off x="2779776" y="291693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1" name="Shape 69"/>
          <p:cNvSpPr/>
          <p:nvPr/>
        </p:nvSpPr>
        <p:spPr>
          <a:xfrm>
            <a:off x="2779776" y="2990088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2" name="Shape 70"/>
          <p:cNvSpPr/>
          <p:nvPr/>
        </p:nvSpPr>
        <p:spPr>
          <a:xfrm>
            <a:off x="2779776" y="3063240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3" name="Shape 71"/>
          <p:cNvSpPr/>
          <p:nvPr/>
        </p:nvSpPr>
        <p:spPr>
          <a:xfrm>
            <a:off x="2779776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4" name="Shape 72"/>
          <p:cNvSpPr/>
          <p:nvPr/>
        </p:nvSpPr>
        <p:spPr>
          <a:xfrm>
            <a:off x="2779776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5" name="Shape 73"/>
          <p:cNvSpPr/>
          <p:nvPr/>
        </p:nvSpPr>
        <p:spPr>
          <a:xfrm>
            <a:off x="2779776" y="328269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6" name="Shape 74"/>
          <p:cNvSpPr/>
          <p:nvPr/>
        </p:nvSpPr>
        <p:spPr>
          <a:xfrm>
            <a:off x="2779776" y="2697480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77" name="Text 75"/>
          <p:cNvSpPr/>
          <p:nvPr/>
        </p:nvSpPr>
        <p:spPr>
          <a:xfrm>
            <a:off x="96012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emotional refugee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9601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 out on web2 performance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05840" y="45262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sharers, marginalized voices,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whistleblowers, people in grief.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using burner Instagrams, alt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Twitter, WeChat small circles.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learn a new tool if it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surveillance.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526280" y="2377440"/>
            <a:ext cx="3657600" cy="3931920"/>
          </a:xfrm>
          <a:prstGeom prst="rect">
            <a:avLst/>
          </a:prstGeom>
          <a:solidFill>
            <a:srgbClr val="1A2048"/>
          </a:solidFill>
          <a:ln w="9525">
            <a:solidFill>
              <a:srgbClr val="00F5D4">
                <a:alpha val="3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26280" y="2377440"/>
            <a:ext cx="54864" cy="393192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2" name="Shape 80"/>
          <p:cNvSpPr/>
          <p:nvPr/>
        </p:nvSpPr>
        <p:spPr>
          <a:xfrm>
            <a:off x="6355080" y="2697480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3" name="Shape 81"/>
          <p:cNvSpPr/>
          <p:nvPr/>
        </p:nvSpPr>
        <p:spPr>
          <a:xfrm>
            <a:off x="6281928" y="277063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4" name="Shape 82"/>
          <p:cNvSpPr/>
          <p:nvPr/>
        </p:nvSpPr>
        <p:spPr>
          <a:xfrm>
            <a:off x="6355080" y="277063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5" name="Shape 83"/>
          <p:cNvSpPr/>
          <p:nvPr/>
        </p:nvSpPr>
        <p:spPr>
          <a:xfrm>
            <a:off x="6428232" y="277063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6" name="Shape 84"/>
          <p:cNvSpPr/>
          <p:nvPr/>
        </p:nvSpPr>
        <p:spPr>
          <a:xfrm>
            <a:off x="6208776" y="284378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7" name="Shape 85"/>
          <p:cNvSpPr/>
          <p:nvPr/>
        </p:nvSpPr>
        <p:spPr>
          <a:xfrm>
            <a:off x="6281928" y="284378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8" name="Shape 86"/>
          <p:cNvSpPr/>
          <p:nvPr/>
        </p:nvSpPr>
        <p:spPr>
          <a:xfrm>
            <a:off x="6355080" y="284378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89" name="Shape 87"/>
          <p:cNvSpPr/>
          <p:nvPr/>
        </p:nvSpPr>
        <p:spPr>
          <a:xfrm>
            <a:off x="6428232" y="284378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90" name="Shape 88"/>
          <p:cNvSpPr/>
          <p:nvPr/>
        </p:nvSpPr>
        <p:spPr>
          <a:xfrm>
            <a:off x="6501384" y="284378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91" name="Shape 89"/>
          <p:cNvSpPr/>
          <p:nvPr/>
        </p:nvSpPr>
        <p:spPr>
          <a:xfrm>
            <a:off x="6281928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92" name="Shape 90"/>
          <p:cNvSpPr/>
          <p:nvPr/>
        </p:nvSpPr>
        <p:spPr>
          <a:xfrm>
            <a:off x="6355080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93" name="Shape 91"/>
          <p:cNvSpPr/>
          <p:nvPr/>
        </p:nvSpPr>
        <p:spPr>
          <a:xfrm>
            <a:off x="6428232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94" name="Shape 92"/>
          <p:cNvSpPr/>
          <p:nvPr/>
        </p:nvSpPr>
        <p:spPr>
          <a:xfrm>
            <a:off x="6208776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95" name="Shape 93"/>
          <p:cNvSpPr/>
          <p:nvPr/>
        </p:nvSpPr>
        <p:spPr>
          <a:xfrm>
            <a:off x="6281928" y="2990088"/>
            <a:ext cx="7315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>
            <a:off x="6355080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97" name="Shape 95"/>
          <p:cNvSpPr/>
          <p:nvPr/>
        </p:nvSpPr>
        <p:spPr>
          <a:xfrm>
            <a:off x="6428232" y="2990088"/>
            <a:ext cx="7315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6501384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99" name="Shape 97"/>
          <p:cNvSpPr/>
          <p:nvPr/>
        </p:nvSpPr>
        <p:spPr>
          <a:xfrm>
            <a:off x="6281928" y="3063240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0" name="Shape 98"/>
          <p:cNvSpPr/>
          <p:nvPr/>
        </p:nvSpPr>
        <p:spPr>
          <a:xfrm>
            <a:off x="6355080" y="3063240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1" name="Shape 99"/>
          <p:cNvSpPr/>
          <p:nvPr/>
        </p:nvSpPr>
        <p:spPr>
          <a:xfrm>
            <a:off x="6428232" y="3063240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208776" y="313639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281928" y="313639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355080" y="313639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28232" y="313639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501384" y="3136392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208776" y="320954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281928" y="320954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355080" y="320954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428232" y="320954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501384" y="3209544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08776" y="3282696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281928" y="3282696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428232" y="3282696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501384" y="3282696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574536" y="277063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574536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574536" y="291693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574536" y="2990088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574536" y="3063240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574536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574536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574536" y="328269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574536" y="2697480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25" name="Text 123"/>
          <p:cNvSpPr/>
          <p:nvPr/>
        </p:nvSpPr>
        <p:spPr>
          <a:xfrm>
            <a:off x="475488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crypto native</a:t>
            </a:r>
            <a:endParaRPr lang="en-US" sz="1500" dirty="0"/>
          </a:p>
        </p:txBody>
      </p:sp>
      <p:sp>
        <p:nvSpPr>
          <p:cNvPr id="126" name="Text 124"/>
          <p:cNvSpPr/>
          <p:nvPr/>
        </p:nvSpPr>
        <p:spPr>
          <a:xfrm>
            <a:off x="475488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a wallet, tired of doxx risk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4800600" y="45262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Farcaster / Lens users who want a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the main address can't reach.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enthusiasts testing Semaphore in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wild.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NFT collectors who value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of ephemeral moments.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321040" y="2377440"/>
            <a:ext cx="3657600" cy="3931920"/>
          </a:xfrm>
          <a:prstGeom prst="rect">
            <a:avLst/>
          </a:prstGeom>
          <a:solidFill>
            <a:srgbClr val="1A2048"/>
          </a:solidFill>
          <a:ln w="9525">
            <a:solidFill>
              <a:srgbClr val="FFD700">
                <a:alpha val="3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321040" y="2377440"/>
            <a:ext cx="54864" cy="39319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149840" y="2697480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0076688" y="277063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149840" y="277063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222992" y="277063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003536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076688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0149840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222992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0296144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076688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149840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222992" y="2916936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0003536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0076688" y="2990088"/>
            <a:ext cx="7315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149840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222992" y="2990088"/>
            <a:ext cx="7315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0296144" y="2990088"/>
            <a:ext cx="73152" cy="73152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0076688" y="3063240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149840" y="3063240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222992" y="3063240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0003536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0076688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0149840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0222992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0296144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10003536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076688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0149840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222992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296144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003536" y="328269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076688" y="328269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222992" y="328269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296144" y="328269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369296" y="277063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369296" y="284378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0369296" y="291693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0369296" y="2990088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369296" y="3063240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369296" y="3136392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369296" y="3209544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0369296" y="3282696"/>
            <a:ext cx="731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369296" y="2697480"/>
            <a:ext cx="731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73" name="Text 171"/>
          <p:cNvSpPr/>
          <p:nvPr/>
        </p:nvSpPr>
        <p:spPr>
          <a:xfrm>
            <a:off x="854964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collector &amp; curator</a:t>
            </a:r>
            <a:endParaRPr lang="en-US" sz="1500" dirty="0"/>
          </a:p>
        </p:txBody>
      </p:sp>
      <p:sp>
        <p:nvSpPr>
          <p:cNvPr id="174" name="Text 172"/>
          <p:cNvSpPr/>
          <p:nvPr/>
        </p:nvSpPr>
        <p:spPr>
          <a:xfrm>
            <a:off x="85496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meaning on top of anonymity</a:t>
            </a:r>
            <a:endParaRPr lang="en-US" sz="1200" dirty="0"/>
          </a:p>
        </p:txBody>
      </p:sp>
      <p:sp>
        <p:nvSpPr>
          <p:cNvPr id="175" name="Text 173"/>
          <p:cNvSpPr/>
          <p:nvPr/>
        </p:nvSpPr>
        <p:spPr>
          <a:xfrm>
            <a:off x="8595360" y="45262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curating emotion feeds.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(with consent-aware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framing) studying anonymous sentiment.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around shared feelings —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grief groups, fandom catharsis,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dissent.</a:t>
            </a:r>
            <a:endParaRPr lang="en-US" sz="1200" dirty="0"/>
          </a:p>
        </p:txBody>
      </p:sp>
      <p:sp>
        <p:nvSpPr>
          <p:cNvPr id="176" name="Text 17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USERS &amp; REVENUE / USERS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</a:t>
            </a:r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REVENUE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does it make money — without selling users?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revenue path must pass the test: can we earn without breaking the anonymity promise?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2331720"/>
            <a:ext cx="539496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00F5D4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2331720"/>
            <a:ext cx="54864" cy="18288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4" name="Shape 32"/>
          <p:cNvSpPr/>
          <p:nvPr/>
        </p:nvSpPr>
        <p:spPr>
          <a:xfrm>
            <a:off x="960120" y="2560320"/>
            <a:ext cx="502920" cy="502920"/>
          </a:xfrm>
          <a:prstGeom prst="ellipse">
            <a:avLst/>
          </a:prstGeom>
          <a:solidFill>
            <a:srgbClr val="00F5D4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00200" y="2532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Relayer fee markup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600200" y="2898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stream · day 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pay a small premium (~15-30%) over raw gas. Relayer covers the tx; the spread funds operations. Zero PII collected.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2331720"/>
            <a:ext cx="539496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B24BF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331720"/>
            <a:ext cx="54864" cy="1828800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0" y="2560320"/>
            <a:ext cx="502920" cy="502920"/>
          </a:xfrm>
          <a:prstGeom prst="ellipse">
            <a:avLst/>
          </a:prstGeom>
          <a:solidFill>
            <a:srgbClr val="B24BF3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40880" y="2532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NFT secondary royalty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040880" y="2898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· non-soulbound mode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user opts into transferable spirits, Wizper takes 2-5% royalty on secondary sales via ERC-2981. Collectors pay, creators and platform share.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" y="4343400"/>
            <a:ext cx="539496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FFD700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" y="4343400"/>
            <a:ext cx="54864" cy="18288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8" name="Shape 46"/>
          <p:cNvSpPr/>
          <p:nvPr/>
        </p:nvSpPr>
        <p:spPr>
          <a:xfrm>
            <a:off x="960120" y="4572000"/>
            <a:ext cx="502920" cy="5029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49" name="Text 47"/>
          <p:cNvSpPr/>
          <p:nvPr/>
        </p:nvSpPr>
        <p:spPr>
          <a:xfrm>
            <a:off x="960120" y="4617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600200" y="4544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insurance (freemium)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600200" y="49103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012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your Semaphore identity to an encrypted recovery service (client-side E2E encrypted key shards). $3/mo for peace of mind.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72200" y="4343400"/>
            <a:ext cx="5394960" cy="1828800"/>
          </a:xfrm>
          <a:prstGeom prst="rect">
            <a:avLst/>
          </a:prstGeom>
          <a:solidFill>
            <a:srgbClr val="1A2048"/>
          </a:solidFill>
          <a:ln w="9525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72200" y="4343400"/>
            <a:ext cx="54864" cy="18288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4617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40880" y="4544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Aggregated sentiment API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040880" y="49103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k-anonymous only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and researchers query emotion trends over text signals, with k-anonymity guarantees. Never sells per-user data — it literally can't.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USERS &amp; REVENUE / REVENUE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1887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9144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572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097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0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2976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621792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66928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9377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63093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0" y="37490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649224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539496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0" y="1828800"/>
            <a:ext cx="32004" cy="32004"/>
          </a:xfrm>
          <a:prstGeom prst="ellipse">
            <a:avLst/>
          </a:prstGeom>
          <a:solidFill>
            <a:srgbClr val="8A9CC9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"/>
            <a:ext cx="320040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74320"/>
            <a:ext cx="2286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97335" y="274320"/>
            <a:ext cx="320040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94515" y="274320"/>
            <a:ext cx="2286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6560820"/>
            <a:ext cx="320040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6263640"/>
            <a:ext cx="2286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97335" y="6560820"/>
            <a:ext cx="320040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94515" y="6263640"/>
            <a:ext cx="2286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109728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9544" y="124358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5848" y="124358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2152" y="124358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3" name="Shape 31"/>
          <p:cNvSpPr/>
          <p:nvPr/>
        </p:nvSpPr>
        <p:spPr>
          <a:xfrm>
            <a:off x="5803240" y="13898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9544" y="13898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13898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2152" y="13898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8456" y="138988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9544" y="1536192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5848" y="1536192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0" name="Shape 38"/>
          <p:cNvSpPr/>
          <p:nvPr/>
        </p:nvSpPr>
        <p:spPr>
          <a:xfrm>
            <a:off x="6242152" y="1536192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1" name="Shape 39"/>
          <p:cNvSpPr/>
          <p:nvPr/>
        </p:nvSpPr>
        <p:spPr>
          <a:xfrm>
            <a:off x="5803240" y="1682496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9544" y="1682496"/>
            <a:ext cx="146304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1682496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4" name="Shape 42"/>
          <p:cNvSpPr/>
          <p:nvPr/>
        </p:nvSpPr>
        <p:spPr>
          <a:xfrm>
            <a:off x="6242152" y="1682496"/>
            <a:ext cx="146304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388456" y="1682496"/>
            <a:ext cx="146304" cy="146304"/>
          </a:xfrm>
          <a:prstGeom prst="rect">
            <a:avLst/>
          </a:prstGeom>
          <a:solidFill>
            <a:srgbClr val="F0D0A0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9544" y="182880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7" name="Shape 45"/>
          <p:cNvSpPr/>
          <p:nvPr/>
        </p:nvSpPr>
        <p:spPr>
          <a:xfrm>
            <a:off x="6095848" y="182880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8" name="Shape 46"/>
          <p:cNvSpPr/>
          <p:nvPr/>
        </p:nvSpPr>
        <p:spPr>
          <a:xfrm>
            <a:off x="6242152" y="1828800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49" name="Shape 47"/>
          <p:cNvSpPr/>
          <p:nvPr/>
        </p:nvSpPr>
        <p:spPr>
          <a:xfrm>
            <a:off x="5803240" y="19751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0" name="Shape 48"/>
          <p:cNvSpPr/>
          <p:nvPr/>
        </p:nvSpPr>
        <p:spPr>
          <a:xfrm>
            <a:off x="5949544" y="19751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5848" y="19751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2" name="Shape 50"/>
          <p:cNvSpPr/>
          <p:nvPr/>
        </p:nvSpPr>
        <p:spPr>
          <a:xfrm>
            <a:off x="6242152" y="19751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3" name="Shape 51"/>
          <p:cNvSpPr/>
          <p:nvPr/>
        </p:nvSpPr>
        <p:spPr>
          <a:xfrm>
            <a:off x="6388456" y="1975104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4" name="Shape 52"/>
          <p:cNvSpPr/>
          <p:nvPr/>
        </p:nvSpPr>
        <p:spPr>
          <a:xfrm>
            <a:off x="5803240" y="21214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5" name="Shape 53"/>
          <p:cNvSpPr/>
          <p:nvPr/>
        </p:nvSpPr>
        <p:spPr>
          <a:xfrm>
            <a:off x="5949544" y="21214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6" name="Shape 54"/>
          <p:cNvSpPr/>
          <p:nvPr/>
        </p:nvSpPr>
        <p:spPr>
          <a:xfrm>
            <a:off x="6095848" y="21214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7" name="Shape 55"/>
          <p:cNvSpPr/>
          <p:nvPr/>
        </p:nvSpPr>
        <p:spPr>
          <a:xfrm>
            <a:off x="6242152" y="21214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8" name="Shape 56"/>
          <p:cNvSpPr/>
          <p:nvPr/>
        </p:nvSpPr>
        <p:spPr>
          <a:xfrm>
            <a:off x="6388456" y="2121408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59" name="Shape 57"/>
          <p:cNvSpPr/>
          <p:nvPr/>
        </p:nvSpPr>
        <p:spPr>
          <a:xfrm>
            <a:off x="5803240" y="22677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0" name="Shape 58"/>
          <p:cNvSpPr/>
          <p:nvPr/>
        </p:nvSpPr>
        <p:spPr>
          <a:xfrm>
            <a:off x="5949544" y="22677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1" name="Shape 59"/>
          <p:cNvSpPr/>
          <p:nvPr/>
        </p:nvSpPr>
        <p:spPr>
          <a:xfrm>
            <a:off x="6242152" y="22677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2" name="Shape 60"/>
          <p:cNvSpPr/>
          <p:nvPr/>
        </p:nvSpPr>
        <p:spPr>
          <a:xfrm>
            <a:off x="6388456" y="2267712"/>
            <a:ext cx="146304" cy="146304"/>
          </a:xfrm>
          <a:prstGeom prst="rect">
            <a:avLst/>
          </a:prstGeom>
          <a:solidFill>
            <a:srgbClr val="B24BF3"/>
          </a:solidFill>
          <a:ln/>
        </p:spPr>
      </p:sp>
      <p:sp>
        <p:nvSpPr>
          <p:cNvPr id="63" name="Shape 61"/>
          <p:cNvSpPr/>
          <p:nvPr/>
        </p:nvSpPr>
        <p:spPr>
          <a:xfrm>
            <a:off x="6534760" y="1243584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4" name="Shape 62"/>
          <p:cNvSpPr/>
          <p:nvPr/>
        </p:nvSpPr>
        <p:spPr>
          <a:xfrm>
            <a:off x="6534760" y="1389888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5" name="Shape 63"/>
          <p:cNvSpPr/>
          <p:nvPr/>
        </p:nvSpPr>
        <p:spPr>
          <a:xfrm>
            <a:off x="6534760" y="1536192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6" name="Shape 64"/>
          <p:cNvSpPr/>
          <p:nvPr/>
        </p:nvSpPr>
        <p:spPr>
          <a:xfrm>
            <a:off x="6534760" y="1682496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7" name="Shape 65"/>
          <p:cNvSpPr/>
          <p:nvPr/>
        </p:nvSpPr>
        <p:spPr>
          <a:xfrm>
            <a:off x="6534760" y="1828800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8" name="Shape 66"/>
          <p:cNvSpPr/>
          <p:nvPr/>
        </p:nvSpPr>
        <p:spPr>
          <a:xfrm>
            <a:off x="6534760" y="1975104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9" name="Shape 67"/>
          <p:cNvSpPr/>
          <p:nvPr/>
        </p:nvSpPr>
        <p:spPr>
          <a:xfrm>
            <a:off x="6534760" y="2121408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0" name="Shape 68"/>
          <p:cNvSpPr/>
          <p:nvPr/>
        </p:nvSpPr>
        <p:spPr>
          <a:xfrm>
            <a:off x="6534760" y="2267712"/>
            <a:ext cx="146304" cy="1463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1" name="Shape 69"/>
          <p:cNvSpPr/>
          <p:nvPr/>
        </p:nvSpPr>
        <p:spPr>
          <a:xfrm>
            <a:off x="6534760" y="1097280"/>
            <a:ext cx="146304" cy="146304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72" name="Text 70"/>
          <p:cNvSpPr/>
          <p:nvPr/>
        </p:nvSpPr>
        <p:spPr>
          <a:xfrm>
            <a:off x="0" y="29260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 heard</a:t>
            </a:r>
            <a:endParaRPr lang="en-US" sz="5800" dirty="0"/>
          </a:p>
        </p:txBody>
      </p:sp>
      <p:sp>
        <p:nvSpPr>
          <p:cNvPr id="73" name="Text 71"/>
          <p:cNvSpPr/>
          <p:nvPr/>
        </p:nvSpPr>
        <p:spPr>
          <a:xfrm>
            <a:off x="0" y="37490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B24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being known.</a:t>
            </a:r>
            <a:endParaRPr lang="en-US" sz="5800" dirty="0"/>
          </a:p>
        </p:txBody>
      </p:sp>
      <p:sp>
        <p:nvSpPr>
          <p:cNvPr id="74" name="Text 7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wizper — a place to release, remember, and recognize each other.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8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Wizper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Wizper — Anonymous Spirits</dc:title>
  <dc:subject>PptxGenJS Presentation</dc:subject>
  <dc:creator>Wizper</dc:creator>
  <cp:lastModifiedBy>Wizper</cp:lastModifiedBy>
  <cp:revision>1</cp:revision>
  <dcterms:created xsi:type="dcterms:W3CDTF">2026-04-17T16:36:04Z</dcterms:created>
  <dcterms:modified xsi:type="dcterms:W3CDTF">2026-04-17T16:36:04Z</dcterms:modified>
</cp:coreProperties>
</file>